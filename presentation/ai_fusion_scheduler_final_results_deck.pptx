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docs/final-results/FINAL_INTEGRITY.md
- docs/secondary-results/SECONDARY_INTEGRITY.md
- PROJECT_CHECKLIST.md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docs/BENCHMARK_PROTOCOL.md metrics contract
- docs/FINAL_RESULTS_SECTION.md interpretation guardrails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docs/ARCHITECTURE.md
- docs/BENCHMARK_PROTOCOL.md
- docs/EXPERIMENTAL_FREEZE.md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docs/EXPERIMENTAL_FREEZE.md
- docs/final-results/FINAL_INTEGRITY.md
- docs/secondary-results/SECONDARY_INTEGRITY.md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docs/final-results/aggregate-summary.csv
- docs/FINAL_RESULTS_SECTION.md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docs/final-results/aggregate-summary.csv light rows
- docs/FINAL_RESULTS_SECTION.md light-load guardrail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docs/final-results/aggregate-summary.csv saturated rows
- docs/FINAL_RESULTS_SECTION.md saturation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docs/final-results/aggregate-summary.csv overload rows
- docs/FINAL_RESULTS_SECTION.md overload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docs/secondary-results/no-aging-aggregate.csv
- docs/secondary-results/no-application-deadline-aggregate.csv
- docs/secondary-results/SECONDARY_RESULTS_SUMMARY.md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docs/secondary-results/periodic-aggregate.csv
- docs/secondary-results/SECONDARY_INTEGRITY.md
- report/FINAL_REPORT_FA.md SCHED_DEADLINE diagnostic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docs/secondary-results/FUSION_SUMMARY.md
- docs/secondary-results/FUSION_PROVENANCE.txt
- results/paper-secondary-v1/fusion/proposed/summary.json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docs/FINAL_RESULTS_SECTION.md interpretation guardrails
- report/FINAL_REPORT_FA.md sections 15-18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docs/FINAL_RESULTS_SECTION.md
- docs/FINAL_PROPOSAL_REFRESH_FA.md
- report/FINAL_REPORT_FA.md
- docs/secondary-results/sha256.txt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PROJECT_CHECKLIST.md publication and presentation checklist
- docs/FINAL_RESULTS_SECTION.md guardrails
- report/FINAL_REPORT_FA.md conclusion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86384"/>
            <a:ext cx="6720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Fusion Scheduler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76656" y="1572768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6C8"/>
                </a:solidFill>
              </a:rPr>
              <a:t>Final evaluation results &amp; professor-demo deck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94944" y="2423160"/>
            <a:ext cx="1600200" cy="274320"/>
          </a:xfrm>
          <a:prstGeom prst="rect">
            <a:avLst/>
          </a:prstGeom>
          <a:solidFill>
            <a:srgbClr val="17243A"/>
          </a:solidFill>
          <a:ln w="12700">
            <a:solidFill>
              <a:srgbClr val="33D1C6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D1C6"/>
                </a:solidFill>
              </a:rPr>
              <a:t>120 primary runs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487168" y="2423160"/>
            <a:ext cx="2148840" cy="274320"/>
          </a:xfrm>
          <a:prstGeom prst="rect">
            <a:avLst/>
          </a:prstGeom>
          <a:solidFill>
            <a:srgbClr val="17243A"/>
          </a:solidFill>
          <a:ln w="12700">
            <a:solidFill>
              <a:srgbClr val="84D97C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4D97C"/>
                </a:solidFill>
              </a:rPr>
              <a:t>80 secondary validations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846320" y="2423160"/>
            <a:ext cx="1600200" cy="274320"/>
          </a:xfrm>
          <a:prstGeom prst="rect">
            <a:avLst/>
          </a:prstGeom>
          <a:solidFill>
            <a:srgbClr val="17243A"/>
          </a:solidFill>
          <a:ln w="12700">
            <a:solidFill>
              <a:srgbClr val="FFB45C">
                <a:alpha val="6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45C"/>
                </a:solidFill>
              </a:rPr>
              <a:t>Fusion complete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94944" y="312724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AFC"/>
                </a:solidFill>
              </a:rPr>
              <a:t>Deadline-aware scheduling + admission control for heterogeneous Linux workloads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4663440"/>
            <a:ext cx="5852160" cy="914400"/>
          </a:xfrm>
          <a:prstGeom prst="rect">
            <a:avLst/>
          </a:prstGeom>
          <a:solidFill>
            <a:srgbClr val="17243A"/>
          </a:solidFill>
          <a:ln w="15240">
            <a:solidFill>
              <a:srgbClr val="33D1C6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1C6"/>
                </a:solidFill>
              </a:rPr>
              <a:t>Core claim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AFS turns uncontrolled overload into an explicit load-shedding trade-off: better admitted-work quality, visible rejection.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26680" y="960120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</a:rPr>
              <a:t>3×4×10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26680" y="1490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Frozen primary matrix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726680" y="1801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workloads × methods × reps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9692640" y="960120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D97C"/>
                </a:solidFill>
              </a:rPr>
              <a:t>80/80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92640" y="1490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Secondary matrix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9692640" y="18013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validations OK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8412480" y="4480560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D1C6"/>
                </a:solidFill>
              </a:rPr>
              <a:t>clean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12480" y="5010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Final branch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8412480" y="53218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paper-finalization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Why AFS exists and what it claims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Research question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03504" y="1389888"/>
            <a:ext cx="3246120" cy="1024128"/>
          </a:xfrm>
          <a:prstGeom prst="rect">
            <a:avLst/>
          </a:prstGeom>
          <a:solidFill>
            <a:srgbClr val="17243A"/>
          </a:solidFill>
          <a:ln w="15240">
            <a:solidFill>
              <a:srgbClr val="FF6B6B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Problem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Deadline-bearing work competes with interactive and batch work; completion alone hides missed deadlines.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87952" y="1389888"/>
            <a:ext cx="3520440" cy="1024128"/>
          </a:xfrm>
          <a:prstGeom prst="rect">
            <a:avLst/>
          </a:prstGeom>
          <a:solidFill>
            <a:srgbClr val="17243A"/>
          </a:solidFill>
          <a:ln w="15240">
            <a:solidFill>
              <a:srgbClr val="58A6F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AFS mechanism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Use application metadata, laxity/deadline scoring, aging, and admission control to manage pressure.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01584" y="1389888"/>
            <a:ext cx="3310128" cy="1024128"/>
          </a:xfrm>
          <a:prstGeom prst="rect">
            <a:avLst/>
          </a:prstGeom>
          <a:solidFill>
            <a:srgbClr val="17243A"/>
          </a:solidFill>
          <a:ln w="15240">
            <a:solidFill>
              <a:srgbClr val="33D1C6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1C6"/>
                </a:solidFill>
              </a:rPr>
              <a:t>Claim shape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No universal scheduler-win claim: results are stated as regime-specific trade-offs.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86200" y="1901952"/>
            <a:ext cx="210312" cy="0"/>
          </a:xfrm>
          <a:prstGeom prst="line">
            <a:avLst/>
          </a:prstGeom>
          <a:noFill/>
          <a:ln w="19050">
            <a:solidFill>
              <a:srgbClr val="A9B6C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54112" y="1901952"/>
            <a:ext cx="265176" cy="0"/>
          </a:xfrm>
          <a:prstGeom prst="line">
            <a:avLst/>
          </a:prstGeom>
          <a:noFill/>
          <a:ln w="19050">
            <a:solidFill>
              <a:srgbClr val="A9B6C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77240" y="306324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</a:rPr>
              <a:t>• Primary metrics keep rejected deadline tasks in the offered-load denominator.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</a:rPr>
              <a:t>• Accepted miss rate is reported beside goodput to expose admission effects.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</a:rPr>
              <a:t>• Rejection and completion rates are first-class results, not footnotes.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3054096"/>
            <a:ext cx="2057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D97C"/>
                </a:solidFill>
              </a:rPr>
              <a:t>120/120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92240" y="35844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Primary validated runs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492240" y="38953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validation_bad = 0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915400" y="3054096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D97C"/>
                </a:solidFill>
              </a:rPr>
              <a:t>80/80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15400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Secondary validations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915400" y="38953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validation_bad = 0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656832" y="4773168"/>
            <a:ext cx="4206240" cy="786384"/>
          </a:xfrm>
          <a:prstGeom prst="rect">
            <a:avLst/>
          </a:prstGeom>
          <a:solidFill>
            <a:srgbClr val="17243A"/>
          </a:solidFill>
          <a:ln w="15240">
            <a:solidFill>
              <a:srgbClr val="FFB45C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45C"/>
                </a:solidFill>
              </a:rPr>
              <a:t>Reading rule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Always read goodput together with accepted miss, rejection, and completion.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AFS architecture in one path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Metadata-aware policy + workload-scoped measurement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1901952" cy="1078992"/>
          </a:xfrm>
          <a:prstGeom prst="rect">
            <a:avLst/>
          </a:prstGeom>
          <a:solidFill>
            <a:srgbClr val="17243A"/>
          </a:solidFill>
          <a:ln>
            <a:solidFill>
              <a:srgbClr val="58A6FF">
                <a:alpha val="7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33D1C6"/>
                </a:solidFill>
              </a:rPr>
              <a:t>Application metadata</a:t>
            </a:r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7FAFC"/>
                </a:solidFill>
              </a:rPr>
              <a:t>class, priority, deadline, runtime estimate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2441448" y="2020824"/>
            <a:ext cx="256032" cy="0"/>
          </a:xfrm>
          <a:prstGeom prst="line">
            <a:avLst/>
          </a:prstGeom>
          <a:noFill/>
          <a:ln w="19050">
            <a:solidFill>
              <a:srgbClr val="A9B6C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07208" y="1481328"/>
            <a:ext cx="1901952" cy="1078992"/>
          </a:xfrm>
          <a:prstGeom prst="rect">
            <a:avLst/>
          </a:prstGeom>
          <a:solidFill>
            <a:srgbClr val="17243A"/>
          </a:solidFill>
          <a:ln>
            <a:solidFill>
              <a:srgbClr val="58A6FF">
                <a:alpha val="7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33D1C6"/>
                </a:solidFill>
              </a:rPr>
              <a:t>Policy scoring</a:t>
            </a:r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7FAFC"/>
                </a:solidFill>
              </a:rPr>
              <a:t>laxity + priority + aging + tie-break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745736" y="2020824"/>
            <a:ext cx="256032" cy="0"/>
          </a:xfrm>
          <a:prstGeom prst="line">
            <a:avLst/>
          </a:prstGeom>
          <a:noFill/>
          <a:ln w="19050">
            <a:solidFill>
              <a:srgbClr val="A9B6C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111496" y="1481328"/>
            <a:ext cx="1901952" cy="1078992"/>
          </a:xfrm>
          <a:prstGeom prst="rect">
            <a:avLst/>
          </a:prstGeom>
          <a:solidFill>
            <a:srgbClr val="17243A"/>
          </a:solidFill>
          <a:ln>
            <a:solidFill>
              <a:srgbClr val="FFB45C">
                <a:alpha val="7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33D1C6"/>
                </a:solidFill>
              </a:rPr>
              <a:t>Admission</a:t>
            </a:r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7FAFC"/>
                </a:solidFill>
              </a:rPr>
              <a:t>delay/reject under pressure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050024" y="2020824"/>
            <a:ext cx="256032" cy="0"/>
          </a:xfrm>
          <a:prstGeom prst="line">
            <a:avLst/>
          </a:prstGeom>
          <a:noFill/>
          <a:ln w="19050">
            <a:solidFill>
              <a:srgbClr val="A9B6C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415784" y="1481328"/>
            <a:ext cx="1901952" cy="1078992"/>
          </a:xfrm>
          <a:prstGeom prst="rect">
            <a:avLst/>
          </a:prstGeom>
          <a:solidFill>
            <a:srgbClr val="17243A"/>
          </a:solidFill>
          <a:ln>
            <a:solidFill>
              <a:srgbClr val="58A6FF">
                <a:alpha val="7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33D1C6"/>
                </a:solidFill>
              </a:rPr>
              <a:t>sched_ext dispatch</a:t>
            </a:r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7FAFC"/>
                </a:solidFill>
              </a:rPr>
              <a:t>RustLand adapter + scx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354312" y="2020824"/>
            <a:ext cx="256032" cy="0"/>
          </a:xfrm>
          <a:prstGeom prst="line">
            <a:avLst/>
          </a:prstGeom>
          <a:noFill/>
          <a:ln w="19050">
            <a:solidFill>
              <a:srgbClr val="A9B6C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720072" y="1481328"/>
            <a:ext cx="1901952" cy="1078992"/>
          </a:xfrm>
          <a:prstGeom prst="rect">
            <a:avLst/>
          </a:prstGeom>
          <a:solidFill>
            <a:srgbClr val="17243A"/>
          </a:solidFill>
          <a:ln>
            <a:solidFill>
              <a:srgbClr val="58A6FF">
                <a:alpha val="7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33D1C6"/>
                </a:solidFill>
              </a:rPr>
              <a:t>Workload cgroup</a:t>
            </a:r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7FAFC"/>
                </a:solidFill>
              </a:rPr>
              <a:t>CPU PSI and result capture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22960" y="35387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Frozen CPU split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3794760"/>
            <a:ext cx="2926080" cy="16916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343400" y="3950208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</a:rPr>
              <a:t>2-5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34340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Workload CPUs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4343400" y="4791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4 logical CPUs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5989320" y="3950208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9B6C8"/>
                </a:solidFill>
              </a:rPr>
              <a:t>0-1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98932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Control CPUs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5989320" y="4791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scheduler/orchestration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7909560" y="3721608"/>
            <a:ext cx="3337560" cy="1143000"/>
          </a:xfrm>
          <a:prstGeom prst="rect">
            <a:avLst/>
          </a:prstGeom>
          <a:solidFill>
            <a:srgbClr val="17243A"/>
          </a:solidFill>
          <a:ln w="15240">
            <a:solidFill>
              <a:srgbClr val="33D1C6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1C6"/>
                </a:solidFill>
              </a:rPr>
              <a:t>Why workload-scoped PSI?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Global /proc pressure is contaminated by control-plane activity; AFS uses workload cgroup CPU PSI.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Frozen evaluation contract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What was measured and what was excluded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Evaluation contract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</a:rPr>
              <a:t>120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1883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Primary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3 workloads × 4 methods × 10 reps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2880360" y="1353312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D97C"/>
                </a:solidFill>
              </a:rPr>
              <a:t>80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1883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Secondary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288036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ablation + periodic validations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892040" y="1353312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45C"/>
                </a:solidFill>
              </a:rPr>
              <a:t>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92040" y="1883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Fusion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89204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case study, not CI group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903720" y="1353312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28CFF"/>
                </a:solidFill>
              </a:rPr>
              <a:t>32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03720" y="1883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Plots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90372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publication PNGs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915400" y="1353312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D97C"/>
                </a:solidFill>
              </a:rPr>
              <a:t>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915400" y="1883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Bad validations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891540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primary + secondary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31520" y="3108960"/>
            <a:ext cx="1303020" cy="379476"/>
          </a:xfrm>
          <a:prstGeom prst="rect">
            <a:avLst/>
          </a:prstGeom>
          <a:solidFill>
            <a:srgbClr val="20314F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057400" y="3108960"/>
            <a:ext cx="5646420" cy="379476"/>
          </a:xfrm>
          <a:prstGeom prst="rect">
            <a:avLst/>
          </a:prstGeom>
          <a:solidFill>
            <a:srgbClr val="20314F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726680" y="3108960"/>
            <a:ext cx="3703320" cy="379476"/>
          </a:xfrm>
          <a:prstGeom prst="rect">
            <a:avLst/>
          </a:prstGeom>
          <a:solidFill>
            <a:srgbClr val="20314F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 claims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31520" y="3502152"/>
            <a:ext cx="1303020" cy="379476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2057400" y="3502152"/>
            <a:ext cx="5646420" cy="379476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/ saturated / overload × EEVDF / RustLand / AFS-no-adm / AFS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726680" y="3502152"/>
            <a:ext cx="3703320" cy="379476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evaluation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731520" y="3895344"/>
            <a:ext cx="1303020" cy="379476"/>
          </a:xfrm>
          <a:prstGeom prst="rect">
            <a:avLst/>
          </a:prstGeom>
          <a:solidFill>
            <a:srgbClr val="121B2E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2057400" y="3895344"/>
            <a:ext cx="5646420" cy="379476"/>
          </a:xfrm>
          <a:prstGeom prst="rect">
            <a:avLst/>
          </a:prstGeom>
          <a:solidFill>
            <a:srgbClr val="121B2E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Aging, app-deadline, periodic/SCHED_DEADLINE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7726680" y="3895344"/>
            <a:ext cx="3703320" cy="379476"/>
          </a:xfrm>
          <a:prstGeom prst="rect">
            <a:avLst/>
          </a:prstGeom>
          <a:solidFill>
            <a:srgbClr val="121B2E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support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731520" y="4288536"/>
            <a:ext cx="1303020" cy="379476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057400" y="4288536"/>
            <a:ext cx="5646420" cy="379476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120-task heterogeneous pipeline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726680" y="4288536"/>
            <a:ext cx="3703320" cy="379476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Case-study evidence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31520" y="4681728"/>
            <a:ext cx="1303020" cy="379476"/>
          </a:xfrm>
          <a:prstGeom prst="rect">
            <a:avLst/>
          </a:prstGeom>
          <a:solidFill>
            <a:srgbClr val="121B2E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Pilot/diagnostic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2057400" y="4681728"/>
            <a:ext cx="5646420" cy="379476"/>
          </a:xfrm>
          <a:prstGeom prst="rect">
            <a:avLst/>
          </a:prstGeom>
          <a:solidFill>
            <a:srgbClr val="121B2E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OOM, sched_deadline root-domain debugging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7726680" y="4681728"/>
            <a:ext cx="3703320" cy="379476"/>
          </a:xfrm>
          <a:prstGeom prst="rect">
            <a:avLst/>
          </a:prstGeom>
          <a:solidFill>
            <a:srgbClr val="121B2E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Excluded from claims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914400" y="5623560"/>
            <a:ext cx="4846320" cy="530352"/>
          </a:xfrm>
          <a:prstGeom prst="rect">
            <a:avLst/>
          </a:prstGeom>
          <a:solidFill>
            <a:srgbClr val="17243A"/>
          </a:solidFill>
          <a:ln w="15240">
            <a:solidFill>
              <a:srgbClr val="33D1C6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1C6"/>
                </a:solidFill>
              </a:rPr>
              <a:t>Statistical unit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Each repetition is one sample; reported values are mean ± two-sided 95% Student-t CI half-width.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27648" y="5623560"/>
            <a:ext cx="4206240" cy="530352"/>
          </a:xfrm>
          <a:prstGeom prst="rect">
            <a:avLst/>
          </a:prstGeom>
          <a:solidFill>
            <a:srgbClr val="17243A"/>
          </a:solidFill>
          <a:ln w="15240">
            <a:solidFill>
              <a:srgbClr val="58A6F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Freeze identity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experimental-freeze-v1 / edcd8eb; results branch paper-finalization.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headline: goodput only makes sense with rejection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Deadline goodput, accepted miss, and admission trade-offs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Primary results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3167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Deadline goodput by regime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572768"/>
            <a:ext cx="5486400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13167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Full AFS rejection rate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9400" y="1572768"/>
            <a:ext cx="3931920" cy="2743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4965192"/>
            <a:ext cx="5029200" cy="749808"/>
          </a:xfrm>
          <a:prstGeom prst="rect">
            <a:avLst/>
          </a:prstGeom>
          <a:solidFill>
            <a:srgbClr val="17243A"/>
          </a:solidFill>
          <a:ln w="15240">
            <a:solidFill>
              <a:srgbClr val="FFB45C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45C"/>
                </a:solidFill>
              </a:rPr>
              <a:t>Headline result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AFS improves overload deadline goodput by admitting less work - the rejection rate is the mechanism.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720840" y="4965192"/>
            <a:ext cx="3840480" cy="749808"/>
          </a:xfrm>
          <a:prstGeom prst="rect">
            <a:avLst/>
          </a:prstGeom>
          <a:solidFill>
            <a:srgbClr val="17243A"/>
          </a:solidFill>
          <a:ln w="15240">
            <a:solidFill>
              <a:srgbClr val="33D1C6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1C6"/>
                </a:solidFill>
              </a:rPr>
              <a:t>Guardrail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Do not compare goodput without showing rejection and completion.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Light load: no-harm floor regime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All methods are effectively at the ceiling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Primary - light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Light goodput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627632"/>
            <a:ext cx="4846320" cy="2331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72200" y="13716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Light accepted miss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200" y="1627632"/>
            <a:ext cx="4389120" cy="2331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459028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D1C6"/>
                </a:solidFill>
              </a:rPr>
              <a:t>99.82%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051560" y="5120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Full AFS goodput</a:t>
            </a:r>
            <a:endParaRPr lang="en-US" sz="980" dirty="0"/>
          </a:p>
        </p:txBody>
      </p:sp>
      <p:sp>
        <p:nvSpPr>
          <p:cNvPr id="13" name="Text 9"/>
          <p:cNvSpPr/>
          <p:nvPr/>
        </p:nvSpPr>
        <p:spPr>
          <a:xfrm>
            <a:off x="1051560" y="54315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± 0.41</a:t>
            </a:r>
            <a:endParaRPr lang="en-US" sz="820" dirty="0"/>
          </a:p>
        </p:txBody>
      </p:sp>
      <p:sp>
        <p:nvSpPr>
          <p:cNvPr id="14" name="Text 10"/>
          <p:cNvSpPr/>
          <p:nvPr/>
        </p:nvSpPr>
        <p:spPr>
          <a:xfrm>
            <a:off x="3429000" y="459028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D97C"/>
                </a:solidFill>
              </a:rPr>
              <a:t>0.00%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3429000" y="5120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Full AFS rejection</a:t>
            </a:r>
            <a:endParaRPr lang="en-US" sz="980" dirty="0"/>
          </a:p>
        </p:txBody>
      </p:sp>
      <p:sp>
        <p:nvSpPr>
          <p:cNvPr id="16" name="Text 12"/>
          <p:cNvSpPr/>
          <p:nvPr/>
        </p:nvSpPr>
        <p:spPr>
          <a:xfrm>
            <a:off x="3429000" y="54315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no admission cost</a:t>
            </a:r>
            <a:endParaRPr lang="en-US" sz="820" dirty="0"/>
          </a:p>
        </p:txBody>
      </p:sp>
      <p:sp>
        <p:nvSpPr>
          <p:cNvPr id="17" name="Text 13"/>
          <p:cNvSpPr/>
          <p:nvPr/>
        </p:nvSpPr>
        <p:spPr>
          <a:xfrm>
            <a:off x="5943600" y="4663440"/>
            <a:ext cx="4389120" cy="804672"/>
          </a:xfrm>
          <a:prstGeom prst="rect">
            <a:avLst/>
          </a:prstGeom>
          <a:solidFill>
            <a:srgbClr val="17243A"/>
          </a:solidFill>
          <a:ln w="15240">
            <a:solidFill>
              <a:srgbClr val="58A6F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Interpretation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This regime establishes that AFS does not create a fundamental light-load regression. It is not a superiority claim.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Saturation: quality improves, but rejection is visible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AFS approximately matches RustLand goodput while improving admitted-work quality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Primary - saturated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Saturated goodput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554480"/>
            <a:ext cx="3246120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06240" y="129844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Accepted miss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6240" y="1554480"/>
            <a:ext cx="3246120" cy="2103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18120" y="129844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Workload PSI avg10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8120" y="1554480"/>
            <a:ext cx="3246120" cy="21031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4480560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D1C6"/>
                </a:solidFill>
              </a:rPr>
              <a:t>6.19s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1051560" y="5010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Full AFS P95</a:t>
            </a:r>
            <a:endParaRPr lang="en-US" sz="980" dirty="0"/>
          </a:p>
        </p:txBody>
      </p:sp>
      <p:sp>
        <p:nvSpPr>
          <p:cNvPr id="15" name="Text 10"/>
          <p:cNvSpPr/>
          <p:nvPr/>
        </p:nvSpPr>
        <p:spPr>
          <a:xfrm>
            <a:off x="1051560" y="5321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vs 20.96s EEVDF</a:t>
            </a:r>
            <a:endParaRPr lang="en-US" sz="820" dirty="0"/>
          </a:p>
        </p:txBody>
      </p:sp>
      <p:sp>
        <p:nvSpPr>
          <p:cNvPr id="16" name="Text 11"/>
          <p:cNvSpPr/>
          <p:nvPr/>
        </p:nvSpPr>
        <p:spPr>
          <a:xfrm>
            <a:off x="3246120" y="4480560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D97C"/>
                </a:solidFill>
              </a:rPr>
              <a:t>7.01%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3246120" y="5010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Accepted miss</a:t>
            </a:r>
            <a:endParaRPr lang="en-US" sz="980" dirty="0"/>
          </a:p>
        </p:txBody>
      </p:sp>
      <p:sp>
        <p:nvSpPr>
          <p:cNvPr id="18" name="Text 13"/>
          <p:cNvSpPr/>
          <p:nvPr/>
        </p:nvSpPr>
        <p:spPr>
          <a:xfrm>
            <a:off x="3246120" y="5321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± 0.94</a:t>
            </a:r>
            <a:endParaRPr lang="en-US" sz="820" dirty="0"/>
          </a:p>
        </p:txBody>
      </p:sp>
      <p:sp>
        <p:nvSpPr>
          <p:cNvPr id="19" name="Text 14"/>
          <p:cNvSpPr/>
          <p:nvPr/>
        </p:nvSpPr>
        <p:spPr>
          <a:xfrm>
            <a:off x="5440680" y="4480560"/>
            <a:ext cx="1554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45C"/>
                </a:solidFill>
              </a:rPr>
              <a:t>18.05%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5440680" y="5010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Rejection</a:t>
            </a:r>
            <a:endParaRPr lang="en-US" sz="980" dirty="0"/>
          </a:p>
        </p:txBody>
      </p:sp>
      <p:sp>
        <p:nvSpPr>
          <p:cNvPr id="21" name="Text 16"/>
          <p:cNvSpPr/>
          <p:nvPr/>
        </p:nvSpPr>
        <p:spPr>
          <a:xfrm>
            <a:off x="5440680" y="5321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visible cost</a:t>
            </a:r>
            <a:endParaRPr lang="en-US" sz="820" dirty="0"/>
          </a:p>
        </p:txBody>
      </p:sp>
      <p:sp>
        <p:nvSpPr>
          <p:cNvPr id="22" name="Text 17"/>
          <p:cNvSpPr/>
          <p:nvPr/>
        </p:nvSpPr>
        <p:spPr>
          <a:xfrm>
            <a:off x="7635240" y="4434840"/>
            <a:ext cx="3337560" cy="914400"/>
          </a:xfrm>
          <a:prstGeom prst="rect">
            <a:avLst/>
          </a:prstGeom>
          <a:solidFill>
            <a:srgbClr val="17243A"/>
          </a:solidFill>
          <a:ln w="15240">
            <a:solidFill>
              <a:srgbClr val="FFB45C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45C"/>
                </a:solidFill>
              </a:rPr>
              <a:t>Claim boundary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RustLand goodput CI is wide and overlaps AFS; claim quality/pressure/tail improvements, not established goodput superiority.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Overload: controlled load shedding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AFS trades completion volume for admitted-work quality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Primary - overload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Overload deadline goodput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554480"/>
            <a:ext cx="3246120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06240" y="129844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Overload rejection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6240" y="1554480"/>
            <a:ext cx="3246120" cy="2103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18120" y="129844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P95 response time (seconds)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8120" y="1554480"/>
            <a:ext cx="3246120" cy="21031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440740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D1C6"/>
                </a:solidFill>
              </a:rPr>
              <a:t>13.32%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868680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Full AFS goodput</a:t>
            </a:r>
            <a:endParaRPr lang="en-US" sz="980" dirty="0"/>
          </a:p>
        </p:txBody>
      </p:sp>
      <p:sp>
        <p:nvSpPr>
          <p:cNvPr id="15" name="Text 10"/>
          <p:cNvSpPr/>
          <p:nvPr/>
        </p:nvSpPr>
        <p:spPr>
          <a:xfrm>
            <a:off x="868680" y="5248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vs 1.89% no-adm</a:t>
            </a:r>
            <a:endParaRPr lang="en-US" sz="820" dirty="0"/>
          </a:p>
        </p:txBody>
      </p:sp>
      <p:sp>
        <p:nvSpPr>
          <p:cNvPr id="16" name="Text 11"/>
          <p:cNvSpPr/>
          <p:nvPr/>
        </p:nvSpPr>
        <p:spPr>
          <a:xfrm>
            <a:off x="2788920" y="440740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45C"/>
                </a:solidFill>
              </a:rPr>
              <a:t>37.01%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2788920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Accepted miss</a:t>
            </a:r>
            <a:endParaRPr lang="en-US" sz="980" dirty="0"/>
          </a:p>
        </p:txBody>
      </p:sp>
      <p:sp>
        <p:nvSpPr>
          <p:cNvPr id="18" name="Text 13"/>
          <p:cNvSpPr/>
          <p:nvPr/>
        </p:nvSpPr>
        <p:spPr>
          <a:xfrm>
            <a:off x="2788920" y="5248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vs 98.11% no-adm</a:t>
            </a:r>
            <a:endParaRPr lang="en-US" sz="820" dirty="0"/>
          </a:p>
        </p:txBody>
      </p:sp>
      <p:sp>
        <p:nvSpPr>
          <p:cNvPr id="19" name="Text 14"/>
          <p:cNvSpPr/>
          <p:nvPr/>
        </p:nvSpPr>
        <p:spPr>
          <a:xfrm>
            <a:off x="4709160" y="440740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6B"/>
                </a:solidFill>
              </a:rPr>
              <a:t>79.38%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4709160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Rejection</a:t>
            </a:r>
            <a:endParaRPr lang="en-US" sz="980" dirty="0"/>
          </a:p>
        </p:txBody>
      </p:sp>
      <p:sp>
        <p:nvSpPr>
          <p:cNvPr id="21" name="Text 16"/>
          <p:cNvSpPr/>
          <p:nvPr/>
        </p:nvSpPr>
        <p:spPr>
          <a:xfrm>
            <a:off x="4709160" y="5248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load shedding</a:t>
            </a:r>
            <a:endParaRPr lang="en-US" sz="820" dirty="0"/>
          </a:p>
        </p:txBody>
      </p:sp>
      <p:sp>
        <p:nvSpPr>
          <p:cNvPr id="22" name="Text 17"/>
          <p:cNvSpPr/>
          <p:nvPr/>
        </p:nvSpPr>
        <p:spPr>
          <a:xfrm>
            <a:off x="6858000" y="4389120"/>
            <a:ext cx="4297680" cy="914400"/>
          </a:xfrm>
          <a:prstGeom prst="rect">
            <a:avLst/>
          </a:prstGeom>
          <a:solidFill>
            <a:srgbClr val="17243A"/>
          </a:solidFill>
          <a:ln w="15240">
            <a:solidFill>
              <a:srgbClr val="33D1C6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1C6"/>
                </a:solidFill>
              </a:rPr>
              <a:t>Core result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Overload is not solved by doing all work. AFS makes the rejection explicit to keep accepted work closer to its deadlines.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Ablations show what the policy needs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Application deadlines dominate; aging protects hardest overload cases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Secondary - ablations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316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Overload goodput: full vs ablations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72768"/>
            <a:ext cx="3474720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26280" y="1316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Overload accepted miss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280" y="1572768"/>
            <a:ext cx="3474720" cy="2194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66760" y="13167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Saturated goodput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66760" y="1572768"/>
            <a:ext cx="2971800" cy="21945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4526280"/>
            <a:ext cx="3794760" cy="841248"/>
          </a:xfrm>
          <a:prstGeom prst="rect">
            <a:avLst/>
          </a:prstGeom>
          <a:solidFill>
            <a:srgbClr val="17243A"/>
          </a:solidFill>
          <a:ln w="15240">
            <a:solidFill>
              <a:srgbClr val="FFB45C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45C"/>
                </a:solidFill>
              </a:rPr>
              <a:t>Application-deadline awareness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Removing it collapses overload goodput to 0.40% and pushes accepted miss to 99.02%.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193792" y="4526280"/>
            <a:ext cx="3154680" cy="841248"/>
          </a:xfrm>
          <a:prstGeom prst="rect">
            <a:avLst/>
          </a:prstGeom>
          <a:solidFill>
            <a:srgbClr val="17243A"/>
          </a:solidFill>
          <a:ln w="15240">
            <a:solidFill>
              <a:srgbClr val="B28CF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28CFF"/>
                </a:solidFill>
              </a:rPr>
              <a:t>Aging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Most visible in overload: accepted miss rises from 37.01% to 51.24% without aging.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796528" y="4526280"/>
            <a:ext cx="2331720" cy="841248"/>
          </a:xfrm>
          <a:prstGeom prst="rect">
            <a:avLst/>
          </a:prstGeom>
          <a:solidFill>
            <a:srgbClr val="17243A"/>
          </a:solidFill>
          <a:ln w="15240">
            <a:solidFill>
              <a:srgbClr val="33D1C6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1C6"/>
                </a:solidFill>
              </a:rPr>
              <a:t>Policy conclusion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Metadata and aging are not decorative; they materially shape deadline quality under pressure.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Periodic/sporadic: scoped SCHED_DEADLINE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AFS competes on the frozen synthetic periodic workload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Secondary - periodic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31673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Deadline goodput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572768"/>
            <a:ext cx="3886200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83480" y="13167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Accepted miss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3480" y="1572768"/>
            <a:ext cx="3291840" cy="2194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77072" y="13167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6C8"/>
                </a:solidFill>
              </a:rPr>
              <a:t>P95 response time (ms)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7072" y="1572768"/>
            <a:ext cx="2743200" cy="21945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4526280"/>
            <a:ext cx="3200400" cy="731520"/>
          </a:xfrm>
          <a:prstGeom prst="rect">
            <a:avLst/>
          </a:prstGeom>
          <a:solidFill>
            <a:srgbClr val="17243A"/>
          </a:solidFill>
          <a:ln w="15240">
            <a:solidFill>
              <a:srgbClr val="33D1C6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1C6"/>
                </a:solidFill>
              </a:rPr>
              <a:t>Result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Full AFS records 99.87% goodput and 0.13% accepted misses in this workload.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26280" y="4526280"/>
            <a:ext cx="3657600" cy="731520"/>
          </a:xfrm>
          <a:prstGeom prst="rect">
            <a:avLst/>
          </a:prstGeom>
          <a:solidFill>
            <a:srgbClr val="17243A"/>
          </a:solidFill>
          <a:ln w="15240">
            <a:solidFill>
              <a:srgbClr val="FFB45C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45C"/>
                </a:solidFill>
              </a:rPr>
              <a:t>Engineering note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SCHED_DEADLINE required cpuset partition-root handling and a live pre-exec migration fix.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549640" y="4526280"/>
            <a:ext cx="2651760" cy="731520"/>
          </a:xfrm>
          <a:prstGeom prst="rect">
            <a:avLst/>
          </a:prstGeom>
          <a:solidFill>
            <a:srgbClr val="17243A"/>
          </a:solidFill>
          <a:ln w="15240">
            <a:solidFill>
              <a:srgbClr val="58A6F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Guardrail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This is not a universal real-time Linux claim; it is scoped to the frozen synthetic periodic/sporadic workload.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Fusion case study: end-to-end AFS path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Single-scenario demonstration, not a statistical group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Secondary - Fusion case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2057400" cy="804672"/>
          </a:xfrm>
          <a:prstGeom prst="rect">
            <a:avLst/>
          </a:prstGeom>
          <a:solidFill>
            <a:srgbClr val="17243A"/>
          </a:solidFill>
          <a:ln>
            <a:solidFill>
              <a:srgbClr val="58A6FF">
                <a:alpha val="7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D1C6"/>
                </a:solidFill>
              </a:rPr>
              <a:t>Input stages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AFC"/>
                </a:solidFill>
              </a:rPr>
              <a:t>heterogeneous tasks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88920" y="1892808"/>
            <a:ext cx="438912" cy="0"/>
          </a:xfrm>
          <a:prstGeom prst="line">
            <a:avLst/>
          </a:prstGeom>
          <a:noFill/>
          <a:ln w="19050">
            <a:solidFill>
              <a:srgbClr val="A9B6C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474720" y="1481328"/>
            <a:ext cx="2057400" cy="804672"/>
          </a:xfrm>
          <a:prstGeom prst="rect">
            <a:avLst/>
          </a:prstGeom>
          <a:solidFill>
            <a:srgbClr val="17243A"/>
          </a:solidFill>
          <a:ln>
            <a:solidFill>
              <a:srgbClr val="FFB45C">
                <a:alpha val="7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B45C"/>
                </a:solidFill>
              </a:rPr>
              <a:t>AFS admission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AFC"/>
                </a:solidFill>
              </a:rPr>
              <a:t>drop when overload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77840" y="1892808"/>
            <a:ext cx="438912" cy="0"/>
          </a:xfrm>
          <a:prstGeom prst="line">
            <a:avLst/>
          </a:prstGeom>
          <a:noFill/>
          <a:ln w="19050">
            <a:solidFill>
              <a:srgbClr val="A9B6C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263640" y="1481328"/>
            <a:ext cx="2057400" cy="804672"/>
          </a:xfrm>
          <a:prstGeom prst="rect">
            <a:avLst/>
          </a:prstGeom>
          <a:solidFill>
            <a:srgbClr val="17243A"/>
          </a:solidFill>
          <a:ln>
            <a:solidFill>
              <a:srgbClr val="58A6FF">
                <a:alpha val="7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D1C6"/>
                </a:solidFill>
              </a:rPr>
              <a:t>Fusion pipeline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AFC"/>
                </a:solidFill>
              </a:rPr>
              <a:t>work executes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66760" y="1892808"/>
            <a:ext cx="438912" cy="0"/>
          </a:xfrm>
          <a:prstGeom prst="line">
            <a:avLst/>
          </a:prstGeom>
          <a:noFill/>
          <a:ln w="19050">
            <a:solidFill>
              <a:srgbClr val="A9B6C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052560" y="1481328"/>
            <a:ext cx="2057400" cy="804672"/>
          </a:xfrm>
          <a:prstGeom prst="rect">
            <a:avLst/>
          </a:prstGeom>
          <a:solidFill>
            <a:srgbClr val="17243A"/>
          </a:solidFill>
          <a:ln>
            <a:solidFill>
              <a:srgbClr val="58A6FF">
                <a:alpha val="7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3D1C6"/>
                </a:solidFill>
              </a:rPr>
              <a:t>Result log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AFC"/>
                </a:solidFill>
              </a:rPr>
              <a:t>summary + provenance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218688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AFC"/>
                </a:solidFill>
              </a:rPr>
              <a:t>120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Total tasks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822960" y="4059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case-study input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2697480" y="3218688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D97C"/>
                </a:solidFill>
              </a:rPr>
              <a:t>45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9748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Completed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2697480" y="4059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admitted work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572000" y="3218688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6B"/>
                </a:solidFill>
              </a:rPr>
              <a:t>75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Rejected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572000" y="4059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admission active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446520" y="3218688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D97C"/>
                </a:solidFill>
              </a:rPr>
              <a:t>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4652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Failed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446520" y="4059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generator failures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321040" y="3218688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45C"/>
                </a:solidFill>
              </a:rPr>
              <a:t>19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32104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Deadline misses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8321040" y="4059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among completed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1143000" y="5212080"/>
            <a:ext cx="4572000" cy="685800"/>
          </a:xfrm>
          <a:prstGeom prst="rect">
            <a:avLst/>
          </a:prstGeom>
          <a:solidFill>
            <a:srgbClr val="17243A"/>
          </a:solidFill>
          <a:ln w="15240">
            <a:solidFill>
              <a:srgbClr val="58A6F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Interpretation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Fusion validates the integrated path; it is scenario evidence, not a population estimate.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5212080"/>
            <a:ext cx="3931920" cy="685800"/>
          </a:xfrm>
          <a:prstGeom prst="rect">
            <a:avLst/>
          </a:prstGeom>
          <a:solidFill>
            <a:srgbClr val="17243A"/>
          </a:solidFill>
          <a:ln w="15240">
            <a:solidFill>
              <a:srgbClr val="33D1C6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1C6"/>
                </a:solidFill>
              </a:rPr>
              <a:t>Source repair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Counts are from authoritative summary.json and cross-checked against 120 task rows.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can safely claim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Guardrails for the professor/demo narrative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Claims &amp; guardrails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120140" cy="466344"/>
          </a:xfrm>
          <a:prstGeom prst="rect">
            <a:avLst/>
          </a:prstGeom>
          <a:solidFill>
            <a:srgbClr val="20314F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Regime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828800" y="1481328"/>
            <a:ext cx="5783580" cy="466344"/>
          </a:xfrm>
          <a:prstGeom prst="rect">
            <a:avLst/>
          </a:prstGeom>
          <a:solidFill>
            <a:srgbClr val="20314F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statement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635240" y="1481328"/>
            <a:ext cx="3886200" cy="466344"/>
          </a:xfrm>
          <a:prstGeom prst="rect">
            <a:avLst/>
          </a:prstGeom>
          <a:solidFill>
            <a:srgbClr val="20314F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saying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85800" y="1961388"/>
            <a:ext cx="1120140" cy="466344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828800" y="1961388"/>
            <a:ext cx="5783580" cy="466344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AFS shows no fundamental regression.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635240" y="1961388"/>
            <a:ext cx="3886200" cy="466344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AFS is universally faster.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85800" y="2441448"/>
            <a:ext cx="1120140" cy="466344"/>
          </a:xfrm>
          <a:prstGeom prst="rect">
            <a:avLst/>
          </a:prstGeom>
          <a:solidFill>
            <a:srgbClr val="121B2E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Saturated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828800" y="2441448"/>
            <a:ext cx="5783580" cy="466344"/>
          </a:xfrm>
          <a:prstGeom prst="rect">
            <a:avLst/>
          </a:prstGeom>
          <a:solidFill>
            <a:srgbClr val="121B2E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AFS matches RustLand goodput range while improving accepted miss, P95, and pressure at rejection cost.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7635240" y="2441448"/>
            <a:ext cx="3886200" cy="466344"/>
          </a:xfrm>
          <a:prstGeom prst="rect">
            <a:avLst/>
          </a:prstGeom>
          <a:solidFill>
            <a:srgbClr val="121B2E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AFS has statistically proven goodput superiority over RustLand.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85800" y="2921508"/>
            <a:ext cx="1120140" cy="466344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828800" y="2921508"/>
            <a:ext cx="5783580" cy="466344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AFS performs explicit load shedding to preserve admitted-work quality.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7635240" y="2921508"/>
            <a:ext cx="3886200" cy="466344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AFS completes all overload work better.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85800" y="3401568"/>
            <a:ext cx="1120140" cy="466344"/>
          </a:xfrm>
          <a:prstGeom prst="rect">
            <a:avLst/>
          </a:prstGeom>
          <a:solidFill>
            <a:srgbClr val="121B2E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828800" y="3401568"/>
            <a:ext cx="5783580" cy="466344"/>
          </a:xfrm>
          <a:prstGeom prst="rect">
            <a:avLst/>
          </a:prstGeom>
          <a:solidFill>
            <a:srgbClr val="121B2E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AFS is competitive on the frozen synthetic workload.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635240" y="3401568"/>
            <a:ext cx="3886200" cy="466344"/>
          </a:xfrm>
          <a:prstGeom prst="rect">
            <a:avLst/>
          </a:prstGeom>
          <a:solidFill>
            <a:srgbClr val="121B2E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AFS universally beats Linux SCHED_DEADLINE.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85800" y="3881628"/>
            <a:ext cx="1120140" cy="466344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828800" y="3881628"/>
            <a:ext cx="5783580" cy="466344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integrated path completed a case study.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635240" y="3881628"/>
            <a:ext cx="3886200" cy="466344"/>
          </a:xfrm>
          <a:prstGeom prst="rect">
            <a:avLst/>
          </a:prstGeom>
          <a:solidFill>
            <a:srgbClr val="101827"/>
          </a:solidFill>
          <a:ln w="5715">
            <a:solidFill>
              <a:srgbClr val="33465F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is a statistical benchmark group.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14400" y="4800600"/>
            <a:ext cx="4754880" cy="777240"/>
          </a:xfrm>
          <a:prstGeom prst="rect">
            <a:avLst/>
          </a:prstGeom>
          <a:solidFill>
            <a:srgbClr val="17243A"/>
          </a:solidFill>
          <a:ln w="15240">
            <a:solidFill>
              <a:srgbClr val="FFB45C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45C"/>
                </a:solidFill>
              </a:rPr>
              <a:t>Presentation rule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Every result slide should name the trade-off: goodput, accepted miss, rejection, completion, and scope.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4800600"/>
            <a:ext cx="4389120" cy="777240"/>
          </a:xfrm>
          <a:prstGeom prst="rect">
            <a:avLst/>
          </a:prstGeom>
          <a:solidFill>
            <a:srgbClr val="17243A"/>
          </a:solidFill>
          <a:ln w="15240">
            <a:solidFill>
              <a:srgbClr val="33D1C6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1C6"/>
                </a:solidFill>
              </a:rPr>
              <a:t>Demo rule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Show final artifacts and explain the frozen methodology; do not rerun benchmarks during the recording.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artifacts are frozen and traceable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What to open during the demo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Repository deliverables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4800600" cy="685800"/>
          </a:xfrm>
          <a:prstGeom prst="rect">
            <a:avLst/>
          </a:prstGeom>
          <a:solidFill>
            <a:srgbClr val="17243A"/>
          </a:solidFill>
          <a:ln>
            <a:solidFill>
              <a:srgbClr val="33465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33D1C6"/>
                </a:solidFill>
              </a:rPr>
              <a:t>Primary results</a:t>
            </a:r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7FAFC"/>
                </a:solidFill>
              </a:rPr>
              <a:t>docs/final-results/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6355080" y="1417320"/>
            <a:ext cx="4800600" cy="685800"/>
          </a:xfrm>
          <a:prstGeom prst="rect">
            <a:avLst/>
          </a:prstGeom>
          <a:solidFill>
            <a:srgbClr val="17243A"/>
          </a:solidFill>
          <a:ln>
            <a:solidFill>
              <a:srgbClr val="33465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33D1C6"/>
                </a:solidFill>
              </a:rPr>
              <a:t>Secondary results</a:t>
            </a:r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7FAFC"/>
                </a:solidFill>
              </a:rPr>
              <a:t>docs/secondary-results/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777240" y="2404872"/>
            <a:ext cx="4800600" cy="685800"/>
          </a:xfrm>
          <a:prstGeom prst="rect">
            <a:avLst/>
          </a:prstGeom>
          <a:solidFill>
            <a:srgbClr val="17243A"/>
          </a:solidFill>
          <a:ln>
            <a:solidFill>
              <a:srgbClr val="33465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33D1C6"/>
                </a:solidFill>
              </a:rPr>
              <a:t>Results narrative</a:t>
            </a:r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7FAFC"/>
                </a:solidFill>
              </a:rPr>
              <a:t>docs/FINAL_RESULTS_SECTION.md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6355080" y="2404872"/>
            <a:ext cx="4800600" cy="685800"/>
          </a:xfrm>
          <a:prstGeom prst="rect">
            <a:avLst/>
          </a:prstGeom>
          <a:solidFill>
            <a:srgbClr val="17243A"/>
          </a:solidFill>
          <a:ln>
            <a:solidFill>
              <a:srgbClr val="33465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33D1C6"/>
                </a:solidFill>
              </a:rPr>
              <a:t>Persian proposal</a:t>
            </a:r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7FAFC"/>
                </a:solidFill>
              </a:rPr>
              <a:t>docs/final-proposal-fa.pdf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777240" y="3392424"/>
            <a:ext cx="4800600" cy="685800"/>
          </a:xfrm>
          <a:prstGeom prst="rect">
            <a:avLst/>
          </a:prstGeom>
          <a:solidFill>
            <a:srgbClr val="17243A"/>
          </a:solidFill>
          <a:ln>
            <a:solidFill>
              <a:srgbClr val="33465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33D1C6"/>
                </a:solidFill>
              </a:rPr>
              <a:t>Persian final report</a:t>
            </a:r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7FAFC"/>
                </a:solidFill>
              </a:rPr>
              <a:t>report/FINAL_REPORT_FA.md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6355080" y="3392424"/>
            <a:ext cx="4800600" cy="685800"/>
          </a:xfrm>
          <a:prstGeom prst="rect">
            <a:avLst/>
          </a:prstGeom>
          <a:solidFill>
            <a:srgbClr val="17243A"/>
          </a:solidFill>
          <a:ln>
            <a:solidFill>
              <a:srgbClr val="33465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33D1C6"/>
                </a:solidFill>
              </a:rPr>
              <a:t>Presentation</a:t>
            </a:r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F7FAFC"/>
                </a:solidFill>
              </a:rPr>
              <a:t>presentation/…pptx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1051560" y="4828032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</a:rPr>
              <a:t>paper-finalization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51560" y="5358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Current clean branch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1051560" y="5669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post-report commit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407408" y="4828032"/>
            <a:ext cx="2606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45C"/>
                </a:solidFill>
              </a:rPr>
              <a:t>experimental-freeze-v1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407408" y="5358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Freeze tag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407408" y="5669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edcd8eb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818120" y="482803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D1C6"/>
                </a:solidFill>
              </a:rPr>
              <a:t>7.1.3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818120" y="5358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Kernel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7818120" y="5669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Debian ARM64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14400" y="6089904"/>
            <a:ext cx="9875520" cy="320040"/>
          </a:xfrm>
          <a:prstGeom prst="rect">
            <a:avLst/>
          </a:prstGeom>
          <a:solidFill>
            <a:srgbClr val="17243A"/>
          </a:solidFill>
          <a:ln w="15240">
            <a:solidFill>
              <a:srgbClr val="58A6F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Demo flow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Open Results -&gt; show charts -&gt; explain one primary trade-off -&gt; show secondary ablation -&gt; show Fusion summary.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step: record the professor demo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6C8"/>
                </a:solidFill>
              </a:rPr>
              <a:t>A concise story from problem to evidence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3346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9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Demo recording plan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80960" y="6519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7E96"/>
                </a:solidFill>
              </a:rPr>
              <a:t>AI Fusion Scheduler - Final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154680" cy="731520"/>
          </a:xfrm>
          <a:prstGeom prst="rect">
            <a:avLst/>
          </a:prstGeom>
          <a:solidFill>
            <a:srgbClr val="17243A"/>
          </a:solidFill>
          <a:ln w="15240">
            <a:solidFill>
              <a:srgbClr val="58A6FF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1. Setup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Show branch, clean status, freeze tag, and final artifacts.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26280" y="1508760"/>
            <a:ext cx="3154680" cy="731520"/>
          </a:xfrm>
          <a:prstGeom prst="rect">
            <a:avLst/>
          </a:prstGeom>
          <a:solidFill>
            <a:srgbClr val="17243A"/>
          </a:solidFill>
          <a:ln w="15240">
            <a:solidFill>
              <a:srgbClr val="FFB45C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45C"/>
                </a:solidFill>
              </a:rPr>
              <a:t>2. Problem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Explain deadline goodput vs accepted miss and why rejection must be visible.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75320" y="1508760"/>
            <a:ext cx="3154680" cy="731520"/>
          </a:xfrm>
          <a:prstGeom prst="rect">
            <a:avLst/>
          </a:prstGeom>
          <a:solidFill>
            <a:srgbClr val="17243A"/>
          </a:solidFill>
          <a:ln w="15240">
            <a:solidFill>
              <a:srgbClr val="33D1C6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1C6"/>
                </a:solidFill>
              </a:rPr>
              <a:t>3. Evidence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Walk light -&gt; saturated -&gt; overload, then ablations and periodic.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77640" y="1874520"/>
            <a:ext cx="466344" cy="0"/>
          </a:xfrm>
          <a:prstGeom prst="line">
            <a:avLst/>
          </a:prstGeom>
          <a:noFill/>
          <a:ln w="19050">
            <a:solidFill>
              <a:srgbClr val="A9B6C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26680" y="1874520"/>
            <a:ext cx="466344" cy="0"/>
          </a:xfrm>
          <a:prstGeom prst="line">
            <a:avLst/>
          </a:prstGeom>
          <a:noFill/>
          <a:ln w="19050">
            <a:solidFill>
              <a:srgbClr val="A9B6C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87552" y="3273552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D97C"/>
                </a:solidFill>
              </a:rPr>
              <a:t>7-10 min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87552" y="3803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Target length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987552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professor demo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977640" y="3273552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6B"/>
                </a:solidFill>
              </a:rPr>
              <a:t>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77640" y="3803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No reruns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3977640" y="4114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use frozen artifacts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748272" y="3273552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45C"/>
                </a:solidFill>
              </a:rPr>
              <a:t>trade-off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48272" y="3803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7FAFC"/>
                </a:solidFill>
              </a:rPr>
              <a:t>Core phrase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6748272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9B6C8"/>
                </a:solidFill>
              </a:rPr>
              <a:t>not overclaim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920240" y="5010912"/>
            <a:ext cx="7863840" cy="749808"/>
          </a:xfrm>
          <a:prstGeom prst="rect">
            <a:avLst/>
          </a:prstGeom>
          <a:solidFill>
            <a:srgbClr val="17243A"/>
          </a:solidFill>
          <a:ln w="15240">
            <a:solidFill>
              <a:srgbClr val="33D1C6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D1C6"/>
                </a:solidFill>
              </a:rPr>
              <a:t>Closing sentence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</a:rPr>
              <a:t>AFS is not a universal scheduler winner; it is a measured mechanism for controlled overload management when admission is allowed.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Kernel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Fusion Scheduler - Final Results</dc:title>
  <dc:subject>Final results presentation for AI Fusion Scheduler</dc:subject>
  <dc:creator>AI Fusion Scheduler Project</dc:creator>
  <cp:lastModifiedBy>AI Fusion Scheduler Project</cp:lastModifiedBy>
  <cp:revision>1</cp:revision>
  <dcterms:created xsi:type="dcterms:W3CDTF">2026-08-12T12:04:27Z</dcterms:created>
  <dcterms:modified xsi:type="dcterms:W3CDTF">2026-08-12T12:04:27Z</dcterms:modified>
</cp:coreProperties>
</file>