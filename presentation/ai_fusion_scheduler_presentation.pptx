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Proposal scope and baselines are based on Linux sched_ext, EEVDF, SCHED_DEADLINE, scx_rustland_core, and the final project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Presentation structure follows the final proposal sections: problem, Cloud/Fusion relation, goals, architecture, evaluation, deliverables.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Linux EEVDF and SCHED_DEADLINE provide existing scheduling mechanisms, but the proposal investigates application-level deadline metadata for heterogeneous AI/Fusion workloads. Sources: Linux EEVDF docs; Linux deadline scheduler docs; final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Cloud relation is node-level resource management, not Kubernetes cluster scheduling. Meta reported a production sched_ext-based scheduler for Ads with P99 latency reduction. Source: Meta Engineering blog 2026; final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Sources: Linux EEVDF scheduler docs; Linux SCHED_DEADLINE docs; scx_rustland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final proposal states that EDF, Laxity and Aging are not new; the contribution is application-aware soft-deadline scheduling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scx_rustland_core exposes dequeue_task, dispatch_task and notify_complete. The proposed architecture is Rustland-centered to reduce technical risk. Source: scx_rustland_core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Metadata fields come from the final proposal: task_id, process_id, workflow_id, stage_id, workload_class, absolute_deadline, estimated_remaining_runtime, application_priority, release_time.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formulas are from the final proposal. P_i* and A_i* are normalized; alpha and beta are defined in time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PSI reports resource pressure; the project uses CPU PSI some avg10 in scope. Source: Linux PSI docs; final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Evaluation baselines and ablations are from the final proposal. SCHED_DEADLINE is applied only where runtime/deadline/period can be configured fairly.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Deliverables correspond to the completed package contents: code, configs, evaluation dataset, sample results, report template, install guide, Mac guide, slides, dependency 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macOS cannot run Linux sched_ext; it is used for simulator, tests and analysis. Linux reference system runs kernel-level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Schedule follows the one-semester plan in the final proposal with a Go/No-Go scx milestone in weeks 1-2.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Risk controls are derived from the proposal: version pinning, early scx smoke test, CPU-only scope, safety scripts, and reporting overhead as a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Closing slide summarises the one-semester scope and core research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770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Application-Aware Soft-Deadline Scheduler | Rust + sched_ext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607040" cy="6858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طراحی و ارزیابی زمان‌بند Soft-Deadline آگاه از کاربرد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1965960"/>
            <a:ext cx="996696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5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برای بارهای کاری AI و Massive Data Fusion در Linux با Rust و sched_ext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4279392" y="2788920"/>
            <a:ext cx="3657600" cy="2011680"/>
          </a:xfrm>
          <a:prstGeom prst="arc">
            <a:avLst/>
          </a:prstGeom>
          <a:solidFill>
            <a:srgbClr val="F7F8FA">
              <a:alpha val="0"/>
            </a:srgbClr>
          </a:solidFill>
          <a:ln w="38100">
            <a:solidFill>
              <a:srgbClr val="315A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13832" y="3246120"/>
            <a:ext cx="1143000" cy="868680"/>
          </a:xfrm>
          <a:prstGeom prst="chevron">
            <a:avLst/>
          </a:prstGeom>
          <a:solidFill>
            <a:srgbClr val="315AA8"/>
          </a:solidFill>
          <a:ln w="12700">
            <a:solidFill>
              <a:srgbClr val="315A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488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20640" y="4315968"/>
            <a:ext cx="1965960" cy="457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sched_ext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9244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Linux Node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5349240"/>
            <a:ext cx="9966960" cy="3657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پروژه یک‌ترمی - نسخه اجرایی و قابل ارزیابی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نقشه ارائه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از مسئله تا تحویل نهایی پروژه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241280" y="1298448"/>
            <a:ext cx="420624" cy="420624"/>
          </a:xfrm>
          <a:prstGeom prst="ellipse">
            <a:avLst/>
          </a:prstGeom>
          <a:solidFill>
            <a:srgbClr val="315AA8"/>
          </a:solidFill>
          <a:ln w="12700">
            <a:solidFill>
              <a:srgbClr val="315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13670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۱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261872"/>
            <a:ext cx="886968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مسئله: رقابت بارهای ناهمگن AI و Fusion روی یک Node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241280" y="2048256"/>
            <a:ext cx="420624" cy="420624"/>
          </a:xfrm>
          <a:prstGeom prst="ellipse">
            <a:avLst/>
          </a:prstGeom>
          <a:solidFill>
            <a:srgbClr val="315AA8"/>
          </a:solidFill>
          <a:ln w="12700">
            <a:solidFill>
              <a:srgbClr val="315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0" y="211683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886968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ایده: Deadline صریح کاربرد به‌جای Deadline مجازی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241280" y="2798064"/>
            <a:ext cx="420624" cy="420624"/>
          </a:xfrm>
          <a:prstGeom prst="ellipse">
            <a:avLst/>
          </a:prstGeom>
          <a:solidFill>
            <a:srgbClr val="315AA8"/>
          </a:solidFill>
          <a:ln w="12700">
            <a:solidFill>
              <a:srgbClr val="31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0" y="286664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۳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761488"/>
            <a:ext cx="886968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معماری: Rustland محور، نه Patch مستقیم کرنل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241280" y="3547872"/>
            <a:ext cx="420624" cy="420624"/>
          </a:xfrm>
          <a:prstGeom prst="ellipse">
            <a:avLst/>
          </a:prstGeom>
          <a:solidFill>
            <a:srgbClr val="315AA8"/>
          </a:solidFill>
          <a:ln w="12700">
            <a:solidFill>
              <a:srgbClr val="315A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0" y="361645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511296"/>
            <a:ext cx="886968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ارزیابی: EEVDF، SCHED_DEADLINE، scx_rustland و روش پیشنهادی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241280" y="4297680"/>
            <a:ext cx="420624" cy="420624"/>
          </a:xfrm>
          <a:prstGeom prst="ellipse">
            <a:avLst/>
          </a:prstGeom>
          <a:solidFill>
            <a:srgbClr val="315AA8"/>
          </a:solidFill>
          <a:ln w="12700">
            <a:solidFill>
              <a:srgbClr val="31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0" y="436626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4261104"/>
            <a:ext cx="886968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خروجی‌ها: کد، راهنما، نتایج، گزارش و مسیر اجرا روی Mac/Linux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6080760"/>
            <a:ext cx="2011680" cy="310896"/>
          </a:xfrm>
          <a:prstGeom prst="roundRect">
            <a:avLst>
              <a:gd name="adj" fmla="val 38235"/>
            </a:avLst>
          </a:prstGeom>
          <a:solidFill>
            <a:srgbClr val="EAF1FF"/>
          </a:solidFill>
          <a:ln w="8890">
            <a:solidFill>
              <a:srgbClr val="315A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613105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315AA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ساختار ارائه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مسئله اصلی چیست؟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همه Taskها از دید سیستم‌عامل یکسان نیستند، اما زمان‌بند معمولاً معنای آن‌ها را نمی‌داند.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200400" y="1874520"/>
            <a:ext cx="1463040" cy="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178040" y="1874520"/>
            <a:ext cx="1234440" cy="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31520" y="12344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5DA"/>
          </a:solidFill>
          <a:ln w="10160">
            <a:solidFill>
              <a:srgbClr val="B779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/ Fusion Tasks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batch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EAF1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536192"/>
            <a:ext cx="2048256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Linux Scheduler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856232"/>
            <a:ext cx="1737360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CPU queue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priority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66760" y="123444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FDEAEA"/>
          </a:solidFill>
          <a:ln w="10160">
            <a:solidFill>
              <a:srgbClr val="B832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68512" y="1508760"/>
            <a:ext cx="224028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32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QoS Problems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3252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deadline miss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tail latency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starvation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10287000" cy="914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در بارهای AI و Data Fusion، مرحله تولید هشدار یا پاسخ کاربر باید زودتر از پردازش Batch دیده شود. زمان‌بند عمومی از این جایگاه معنایی آگاه نیست.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05840" y="484632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EAF1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98348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 DMR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15568" y="5376672"/>
            <a:ext cx="22494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هدف اصلی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03320" y="484632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13048" y="498348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85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 P95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813048" y="5376672"/>
            <a:ext cx="22494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تأخیر انتهایی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484632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F1ECFF"/>
          </a:solidFill>
          <a:ln w="10160">
            <a:solidFill>
              <a:srgbClr val="6B4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498348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4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↑ Fairness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510528" y="5376672"/>
            <a:ext cx="22494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عدالت کلاس‌ها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484632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FFF5DA"/>
          </a:solidFill>
          <a:ln w="10160">
            <a:solidFill>
              <a:srgbClr val="B779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8008" y="498348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779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Measured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208008" y="5376672"/>
            <a:ext cx="22494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سربار کنترل‌شده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ارتباط با Cloud و Massive Data Fusion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پروژه Cloud Scheduler سطح Cluster نیست؛ مدیریت اجرای داخل هر Node است.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12280" y="132588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AF1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0" y="1499616"/>
            <a:ext cx="379476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Cloud / Edge Orchestrator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915400" y="1993392"/>
            <a:ext cx="0" cy="521208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12280" y="2523744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6F7FA"/>
          </a:solidFill>
          <a:ln w="10160">
            <a:solidFill>
              <a:srgbClr val="0F8A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2697480"/>
            <a:ext cx="379476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8AA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Linux Node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15400" y="3191256"/>
            <a:ext cx="0" cy="512064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12280" y="3712464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3886200"/>
            <a:ext cx="379476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sched_ext + Rust Policy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15400" y="4379976"/>
            <a:ext cx="0" cy="512064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12280" y="4901184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1ECFF"/>
          </a:solidFill>
          <a:ln w="10160">
            <a:solidFill>
              <a:srgbClr val="6B4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5074920"/>
            <a:ext cx="379476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/ Fusion Workers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1572768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E6F7FA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1737360"/>
            <a:ext cx="1453896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Ingestion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1947672"/>
            <a:ext cx="246888" cy="0"/>
          </a:xfrm>
          <a:prstGeom prst="line">
            <a:avLst/>
          </a:prstGeom>
          <a:noFill/>
          <a:ln w="1143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560320" y="1572768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EAF1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1737360"/>
            <a:ext cx="1453896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Preprocess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0520" y="1947672"/>
            <a:ext cx="246888" cy="0"/>
          </a:xfrm>
          <a:prstGeom prst="line">
            <a:avLst/>
          </a:prstGeom>
          <a:noFill/>
          <a:ln w="1143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34840" y="1572768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EAF1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7992" y="1737360"/>
            <a:ext cx="1453896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2807208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1EC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2971800"/>
            <a:ext cx="1453896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0" y="3182112"/>
            <a:ext cx="246888" cy="0"/>
          </a:xfrm>
          <a:prstGeom prst="line">
            <a:avLst/>
          </a:prstGeom>
          <a:noFill/>
          <a:ln w="1143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560320" y="2807208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DEAEA"/>
          </a:solidFill>
          <a:ln w="10160">
            <a:solidFill>
              <a:srgbClr val="B832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2971800"/>
            <a:ext cx="1453896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32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60520" y="3182112"/>
            <a:ext cx="246888" cy="0"/>
          </a:xfrm>
          <a:prstGeom prst="line">
            <a:avLst/>
          </a:prstGeom>
          <a:noFill/>
          <a:ln w="1143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434840" y="2807208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FF5DA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7992" y="2971800"/>
            <a:ext cx="1453896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Indexing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4343400"/>
            <a:ext cx="5440680" cy="8229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در Data Fusion، هر مرحله اهمیت و Deadline متفاوتی دارد. Scheduler پیشنهادی از workflow_id و stage_id برای دانستن جایگاه Task در Pipeline استفاده می‌کند.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548640" y="6080760"/>
            <a:ext cx="2011680" cy="310896"/>
          </a:xfrm>
          <a:prstGeom prst="roundRect">
            <a:avLst>
              <a:gd name="adj" fmla="val 38235"/>
            </a:avLst>
          </a:prstGeom>
          <a:solidFill>
            <a:srgbClr val="EAF1FF"/>
          </a:solidFill>
          <a:ln w="8890">
            <a:solidFill>
              <a:srgbClr val="315A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613105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315AA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Node-level Scheduler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چرا فقط از زمان‌بندهای موجود استفاده نکنیم؟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سه نقطه مرجع اصلی وجود دارد، اما هرکدام محدودیت خود را دارند.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EAF1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23960" y="1490472"/>
            <a:ext cx="2057400" cy="23774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EEVDF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09160" y="1490472"/>
            <a:ext cx="38404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Virtual Deadline برای عدالت عمومی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490472"/>
            <a:ext cx="333756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83232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Deadline واقعی برنامه را نمی‌گیرد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542032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23960" y="2706624"/>
            <a:ext cx="2057400" cy="23774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5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SCHED_DEADLINE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EDF + CBS و رزرو runtime/deadline/period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706624"/>
            <a:ext cx="333756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83232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برای ترکیب Aging، کلاس کاربرد و PSI منعطف نیست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758184"/>
            <a:ext cx="10515600" cy="841248"/>
          </a:xfrm>
          <a:prstGeom prst="roundRect">
            <a:avLst>
              <a:gd name="adj" fmla="val 8696"/>
            </a:avLst>
          </a:prstGeom>
          <a:solidFill>
            <a:srgbClr val="F1ECFF"/>
          </a:solidFill>
          <a:ln w="10160">
            <a:solidFill>
              <a:srgbClr val="6B4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23960" y="3922776"/>
            <a:ext cx="2057400" cy="23774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4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scx_rustland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3922776"/>
            <a:ext cx="38404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Deadline رفتاری برای Interactive Responsiveness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922776"/>
            <a:ext cx="333756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83232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Deadline از Application نمی‌آید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5166360"/>
            <a:ext cx="10515600" cy="6400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پرسش پروژه: آیا Deadline معناییِ اعلام‌شده توسط کاربرد + Runtime باقی‌مانده + Admission Control نسبت به این مرجع‌ها مزیت ایجاد می‌کند؟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سهم پژوهشی دقیق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ادعای پروژه، اختراع EDF یا Laxity نیست.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298448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EAF1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463040"/>
            <a:ext cx="278892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 Deadline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7280" y="1819656"/>
            <a:ext cx="269748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مهلت واقعی تکمیل کار از سطح کاربرد می‌آید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526280" y="1298448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E6F7FA"/>
          </a:solidFill>
          <a:ln w="10160">
            <a:solidFill>
              <a:srgbClr val="0F8A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463040"/>
            <a:ext cx="278892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8AA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Remaining Runtime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09160" y="1819656"/>
            <a:ext cx="269748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Laxity با تخمین زمان باقی‌مانده محاسبه می‌شود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138160" y="1298448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463040"/>
            <a:ext cx="278892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85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21040" y="1819656"/>
            <a:ext cx="269748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وظایف Batch از گرسنگی محافظت می‌شوند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14400" y="2898648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5DA"/>
          </a:solidFill>
          <a:ln w="1016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063240"/>
            <a:ext cx="278892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Admission Control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7280" y="3419856"/>
            <a:ext cx="269748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در overload، پذیرش بی‌رویه کنترل می‌شود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526280" y="2898648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1ECFF"/>
          </a:solidFill>
          <a:ln w="10160">
            <a:solidFill>
              <a:srgbClr val="6B4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063240"/>
            <a:ext cx="278892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4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Overhead Measurement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09160" y="3419856"/>
            <a:ext cx="269748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هزینه Rustland به‌صورت Dispatch/Cycle اندازه‌گیری می‌شود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10149840" cy="7315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Contribution اصلی: ارزیابی تجربی یک سیاست Soft-Deadline و Application-Aware روی Linux sched_ext، نه ساختن یک الگوریتم Real-Time جدید.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معماری اجرایی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پل Rust/BPF از صفر ساخته نمی‌شود؛ پروژه روی scx_rustland_core بنا می‌شود.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1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2157984"/>
            <a:ext cx="1773936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Config-driven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Workload Generator</a:t>
            </a:r>
            <a:endParaRPr lang="en-US" sz="1240" dirty="0"/>
          </a:p>
        </p:txBody>
      </p:sp>
      <p:sp>
        <p:nvSpPr>
          <p:cNvPr id="6" name="Shape 4"/>
          <p:cNvSpPr/>
          <p:nvPr/>
        </p:nvSpPr>
        <p:spPr>
          <a:xfrm>
            <a:off x="2788920" y="2423160"/>
            <a:ext cx="292608" cy="0"/>
          </a:xfrm>
          <a:prstGeom prst="line">
            <a:avLst/>
          </a:prstGeom>
          <a:noFill/>
          <a:ln w="1397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08960" y="19202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6F7FA"/>
          </a:solidFill>
          <a:ln w="10160">
            <a:solidFill>
              <a:srgbClr val="0F8A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82112" y="2157984"/>
            <a:ext cx="1773936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F8AA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Metadata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0F8AA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Manager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5029200" y="2423160"/>
            <a:ext cx="292608" cy="0"/>
          </a:xfrm>
          <a:prstGeom prst="line">
            <a:avLst/>
          </a:prstGeom>
          <a:noFill/>
          <a:ln w="1397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49240" y="19202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1ECFF"/>
          </a:solidFill>
          <a:ln w="10160">
            <a:solidFill>
              <a:srgbClr val="6B4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2392" y="2157984"/>
            <a:ext cx="1773936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6B4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Scheduling + Admission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6B4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Policy in Rust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7269480" y="2423160"/>
            <a:ext cx="292608" cy="0"/>
          </a:xfrm>
          <a:prstGeom prst="line">
            <a:avLst/>
          </a:prstGeom>
          <a:noFill/>
          <a:ln w="1397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89520" y="19202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2672" y="2157984"/>
            <a:ext cx="1773936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2F85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scx_rustland_core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9509760" y="2423160"/>
            <a:ext cx="292608" cy="0"/>
          </a:xfrm>
          <a:prstGeom prst="line">
            <a:avLst/>
          </a:prstGeom>
          <a:noFill/>
          <a:ln w="1397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29800" y="19202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5DA"/>
          </a:solidFill>
          <a:ln w="10160">
            <a:solidFill>
              <a:srgbClr val="B779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2952" y="2157984"/>
            <a:ext cx="1773936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B779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BPF Backend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B779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 sched_ext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10378440" cy="7315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مزیت این انتخاب: توسعه سریع سیاست در Rust و امکان Ablation. هزینه آن: سربار رفت‌وبرگشت میان user space و kernel که باید اندازه‌گیری شود.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6080760"/>
            <a:ext cx="2011680" cy="310896"/>
          </a:xfrm>
          <a:prstGeom prst="roundRect">
            <a:avLst>
              <a:gd name="adj" fmla="val 38235"/>
            </a:avLst>
          </a:prstGeom>
          <a:solidFill>
            <a:srgbClr val="EAF1FF"/>
          </a:solidFill>
          <a:ln w="8890">
            <a:solidFill>
              <a:srgbClr val="315A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613105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315AA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Architecture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قرارداد فراداده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تمام تصمیم‌ها باید از روی فیلدهای روشن، واحد مشخص و زمان یکنواخت گرفته شوند.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0120" y="1234440"/>
            <a:ext cx="1014984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0" y="13075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task_id / process_id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1325880" y="12984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اتصال Task به Process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960120" y="1892808"/>
            <a:ext cx="10149840" cy="420624"/>
          </a:xfrm>
          <a:prstGeom prst="roundRect">
            <a:avLst/>
          </a:prstGeom>
          <a:solidFill>
            <a:srgbClr val="F1F4F8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65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workflow_id / stage_id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1325880" y="195681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جایگاه در Pipeline Fusion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960120" y="2551176"/>
            <a:ext cx="1014984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6243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workload_class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1325880" y="26151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critical / interactive / batch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960120" y="3209544"/>
            <a:ext cx="10149840" cy="420624"/>
          </a:xfrm>
          <a:prstGeom prst="roundRect">
            <a:avLst/>
          </a:prstGeom>
          <a:solidFill>
            <a:srgbClr val="F1F4F8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2826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absolute_deadline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1325880" y="32735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مهلت تکمیل در CLOCK_MONOTONIC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960120" y="3867912"/>
            <a:ext cx="1014984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9410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estimated_remaining_runtime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1325880" y="39319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CPU Time باقی‌مانده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960120" y="4526280"/>
            <a:ext cx="10149840" cy="420624"/>
          </a:xfrm>
          <a:prstGeom prst="roundRect">
            <a:avLst/>
          </a:prstGeom>
          <a:solidFill>
            <a:srgbClr val="F1F4F8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5994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application_priority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1325880" y="45902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3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اولویت نرمال‌شده کاربرد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1097280" y="5440680"/>
            <a:ext cx="996696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B83232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نکته کلیدی: Runtime یعنی CPU Time، نه Wall-clock time. همه زمان‌ها بر حسب nanosecond ثبت می‌شوند.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سیاست زمان‌بندی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Laxity کمتر یعنی فوریت بیشتر؛ Aging اجازه نمی‌دهد Batchها گرسنه بمانند.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1481328"/>
            <a:ext cx="14630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315AA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Runtime باقی‌مانده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44348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R̂ᵢ(t) = max(0, Ĉᵢ − Cᵢ,consumed(t))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28016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0" y="1481328"/>
            <a:ext cx="14630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Laxity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1828800"/>
            <a:ext cx="438912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Lᵢ(t) = Dᵢ − t − R̂ᵢ(t)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3154680"/>
            <a:ext cx="8458200" cy="1143000"/>
          </a:xfrm>
          <a:prstGeom prst="roundRect">
            <a:avLst>
              <a:gd name="adj" fmla="val 6400"/>
            </a:avLst>
          </a:prstGeom>
          <a:solidFill>
            <a:srgbClr val="F1ECFF"/>
          </a:solidFill>
          <a:ln w="10160">
            <a:solidFill>
              <a:srgbClr val="6B4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3346704"/>
            <a:ext cx="19202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B46C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امتیاز Dispatch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40280" y="3675888"/>
            <a:ext cx="749808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Sᵢ(t) = Lᵢ(t) − αPᵢ* − βAᵢ*(t)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52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روش پیشنهادی تضمین Hard Real-Time نمی‌دهد؛ هدف کاهش Deadline Miss در بارهای Soft-Deadline است.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کنترل پذیرش و PSI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کاهش Deadline Miss نباید فقط با رد کردن بی‌رویه Taskها به‌دست بیاید.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AF1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10512"/>
            <a:ext cx="19202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315AA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ورود Task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71800" y="1965960"/>
            <a:ext cx="411480" cy="0"/>
          </a:xfrm>
          <a:prstGeom prst="line">
            <a:avLst/>
          </a:prstGeom>
          <a:noFill/>
          <a:ln w="1397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20440" y="15544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6F7FA"/>
          </a:solidFill>
          <a:ln w="10160">
            <a:solidFill>
              <a:srgbClr val="0F8A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810512"/>
            <a:ext cx="19202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0F8AA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بررسی Deadline و Runtime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15000" y="1965960"/>
            <a:ext cx="411480" cy="0"/>
          </a:xfrm>
          <a:prstGeom prst="line">
            <a:avLst/>
          </a:prstGeom>
          <a:noFill/>
          <a:ln w="1397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63640" y="15544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10512"/>
            <a:ext cx="19202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خواندن PSI CPU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58200" y="1965960"/>
            <a:ext cx="411480" cy="0"/>
          </a:xfrm>
          <a:prstGeom prst="line">
            <a:avLst/>
          </a:prstGeom>
          <a:noFill/>
          <a:ln w="1397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06840" y="15544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FF5DA"/>
          </a:solidFill>
          <a:ln w="1016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810512"/>
            <a:ext cx="19202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تصمیم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828800" y="32461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3529584"/>
            <a:ext cx="210312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ADMIT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92040" y="32461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5DA"/>
          </a:solidFill>
          <a:ln w="10160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529584"/>
            <a:ext cx="210312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79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DELAY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955280" y="32461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DEAEA"/>
          </a:solidFill>
          <a:ln w="10160">
            <a:solidFill>
              <a:srgbClr val="B832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529584"/>
            <a:ext cx="210312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32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REJECT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5138928"/>
            <a:ext cx="10424160" cy="6583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در گزارش، Admission Rate، Rejection Rate، Completion Rate و Goodput جدا گزارش می‌شوند تا Reject زیاد باعث نتیجه ظاهراً بهتر نشود.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طرح ارزیابی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چهار روش اصلی، سه Ablation محدود و سناریوهای Config-driven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98448"/>
            <a:ext cx="2331720" cy="859536"/>
          </a:xfrm>
          <a:prstGeom prst="roundRect">
            <a:avLst>
              <a:gd name="adj" fmla="val 8511"/>
            </a:avLst>
          </a:prstGeom>
          <a:solidFill>
            <a:srgbClr val="EAF1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21488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EEVDF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1810512"/>
            <a:ext cx="210312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پیش‌فرض لینوکس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20440" y="1298448"/>
            <a:ext cx="2331720" cy="859536"/>
          </a:xfrm>
          <a:prstGeom prst="roundRect">
            <a:avLst>
              <a:gd name="adj" fmla="val 8511"/>
            </a:avLst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481328"/>
            <a:ext cx="21488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SCHED_DEADLINE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30168" y="1810512"/>
            <a:ext cx="210312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فقط Periodic/Sporadic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298448"/>
            <a:ext cx="2331720" cy="859536"/>
          </a:xfrm>
          <a:prstGeom prst="roundRect">
            <a:avLst>
              <a:gd name="adj" fmla="val 8511"/>
            </a:avLst>
          </a:prstGeom>
          <a:solidFill>
            <a:srgbClr val="F1ECFF"/>
          </a:solidFill>
          <a:ln w="10160">
            <a:solidFill>
              <a:srgbClr val="6B4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81328"/>
            <a:ext cx="21488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scx_rustland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19088" y="1810512"/>
            <a:ext cx="210312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Baseline نزدیک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98280" y="1298448"/>
            <a:ext cx="2331720" cy="859536"/>
          </a:xfrm>
          <a:prstGeom prst="roundRect">
            <a:avLst>
              <a:gd name="adj" fmla="val 8511"/>
            </a:avLst>
          </a:prstGeom>
          <a:solidFill>
            <a:srgbClr val="FFF5DA"/>
          </a:solidFill>
          <a:ln w="1016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1481328"/>
            <a:ext cx="21488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Proposed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08008" y="1810512"/>
            <a:ext cx="210312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Application-aware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43000" y="2926080"/>
            <a:ext cx="2743200" cy="310896"/>
          </a:xfrm>
          <a:prstGeom prst="roundRect">
            <a:avLst>
              <a:gd name="adj" fmla="val 38235"/>
            </a:avLst>
          </a:prstGeom>
          <a:solidFill>
            <a:srgbClr val="EAF1FF"/>
          </a:solidFill>
          <a:ln w="8890">
            <a:solidFill>
              <a:srgbClr val="31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297637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315AA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Deadline Miss Ratio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434840" y="2926080"/>
            <a:ext cx="2743200" cy="310896"/>
          </a:xfrm>
          <a:prstGeom prst="roundRect">
            <a:avLst>
              <a:gd name="adj" fmla="val 38235"/>
            </a:avLst>
          </a:prstGeom>
          <a:solidFill>
            <a:srgbClr val="EAF7EF"/>
          </a:solidFill>
          <a:ln w="8890">
            <a:solidFill>
              <a:srgbClr val="2F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297637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2F855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P95 Response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726680" y="2926080"/>
            <a:ext cx="2743200" cy="310896"/>
          </a:xfrm>
          <a:prstGeom prst="roundRect">
            <a:avLst>
              <a:gd name="adj" fmla="val 38235"/>
            </a:avLst>
          </a:prstGeom>
          <a:solidFill>
            <a:srgbClr val="F1ECFF"/>
          </a:solidFill>
          <a:ln w="8890">
            <a:solidFill>
              <a:srgbClr val="6B4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9832" y="297637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6B46C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Throughput / Goodput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1143000" y="3611880"/>
            <a:ext cx="2743200" cy="310896"/>
          </a:xfrm>
          <a:prstGeom prst="roundRect">
            <a:avLst>
              <a:gd name="adj" fmla="val 38235"/>
            </a:avLst>
          </a:prstGeom>
          <a:solidFill>
            <a:srgbClr val="FFF5DA"/>
          </a:solidFill>
          <a:ln w="8890">
            <a:solidFill>
              <a:srgbClr val="B779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6152" y="366217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B7791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Jain Fairness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434840" y="3611880"/>
            <a:ext cx="2743200" cy="310896"/>
          </a:xfrm>
          <a:prstGeom prst="roundRect">
            <a:avLst>
              <a:gd name="adj" fmla="val 38235"/>
            </a:avLst>
          </a:prstGeom>
          <a:solidFill>
            <a:srgbClr val="FDEAEA"/>
          </a:solidFill>
          <a:ln w="8890">
            <a:solidFill>
              <a:srgbClr val="B832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366217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B83232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Scheduler Overhead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1005840" y="4892040"/>
            <a:ext cx="10149840" cy="7772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53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Ablationها: بدون Aging، بدون Admission Control، بدون Application Deadline. این‌ها فقط در سناریوهای منتخب اجرا می‌شوند تا دامنه یک‌ترمی حفظ شود.</a:t>
            </a:r>
            <a:endParaRPr lang="en-US" sz="15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خروجی‌های تحویلی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کد، داده، گزارش، راهنما و ارائه در یک بسته قابل بازتولید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AF1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0744"/>
            <a:ext cx="2148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 Workspace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9536" y="1709928"/>
            <a:ext cx="2084832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کد اصلی پروژه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566160" y="12344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6F7FA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380744"/>
            <a:ext cx="2148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94176" y="1709928"/>
            <a:ext cx="2084832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سناریوهای TOML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400800" y="12344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AF7E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380744"/>
            <a:ext cx="2148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8816" y="1709928"/>
            <a:ext cx="2084832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Baseline و Ablation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9235440" y="12344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5DA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380744"/>
            <a:ext cx="2148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Sample Results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63456" y="1709928"/>
            <a:ext cx="2084832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تست Pipeline تحلیل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31520" y="26517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1EC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798064"/>
            <a:ext cx="2148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Final Report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" y="3127248"/>
            <a:ext cx="2084832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قالب گزارش نهایی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566160" y="26517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AF1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798064"/>
            <a:ext cx="2148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 Guide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94176" y="3127248"/>
            <a:ext cx="2084832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راهنمای MacBook M1 Pro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400800" y="26517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AF7E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798064"/>
            <a:ext cx="2148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Dependency Lock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28816" y="3127248"/>
            <a:ext cx="2084832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نسخه‌ها و محیط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9235440" y="26517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5DA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2798064"/>
            <a:ext cx="21488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Slides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63456" y="3127248"/>
            <a:ext cx="2084832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ارائه کامل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1097280" y="5212080"/>
            <a:ext cx="996696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B83232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نتایج sample ساختگی هستند؛ نتایج پژوهشی باید روی Linux 6.12.95 تولید شوند.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مسیر اجرا روی MacBook و Linux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Mac برای توسعه و تحلیل؛ Linux برای اجرای واقعی sched_ext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8006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46120" y="1572768"/>
            <a:ext cx="20116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MacBook M1 Pro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80160" y="2057400"/>
            <a:ext cx="3474720" cy="310896"/>
          </a:xfrm>
          <a:prstGeom prst="roundRect">
            <a:avLst>
              <a:gd name="adj" fmla="val 38235"/>
            </a:avLst>
          </a:prstGeom>
          <a:solidFill>
            <a:srgbClr val="EAF1FF"/>
          </a:solidFill>
          <a:ln w="8890">
            <a:solidFill>
              <a:srgbClr val="31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2107692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315AA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Simulator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280160" y="2496312"/>
            <a:ext cx="3474720" cy="310896"/>
          </a:xfrm>
          <a:prstGeom prst="roundRect">
            <a:avLst>
              <a:gd name="adj" fmla="val 38235"/>
            </a:avLst>
          </a:prstGeom>
          <a:solidFill>
            <a:srgbClr val="EAF1FF"/>
          </a:solidFill>
          <a:ln w="8890">
            <a:solidFill>
              <a:srgbClr val="315A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254660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315AA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Unit tests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1280160" y="2935224"/>
            <a:ext cx="3474720" cy="310896"/>
          </a:xfrm>
          <a:prstGeom prst="roundRect">
            <a:avLst>
              <a:gd name="adj" fmla="val 38235"/>
            </a:avLst>
          </a:prstGeom>
          <a:solidFill>
            <a:srgbClr val="EAF1FF"/>
          </a:solidFill>
          <a:ln w="8890">
            <a:solidFill>
              <a:srgbClr val="31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2985516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315AA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Analysis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1280160" y="3374136"/>
            <a:ext cx="3474720" cy="310896"/>
          </a:xfrm>
          <a:prstGeom prst="roundRect">
            <a:avLst>
              <a:gd name="adj" fmla="val 38235"/>
            </a:avLst>
          </a:prstGeom>
          <a:solidFill>
            <a:srgbClr val="EAF1FF"/>
          </a:solidFill>
          <a:ln w="8890">
            <a:solidFill>
              <a:srgbClr val="315A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3424428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315AA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Plots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280160" y="3813048"/>
            <a:ext cx="3474720" cy="310896"/>
          </a:xfrm>
          <a:prstGeom prst="roundRect">
            <a:avLst>
              <a:gd name="adj" fmla="val 38235"/>
            </a:avLst>
          </a:prstGeom>
          <a:solidFill>
            <a:srgbClr val="EAF1FF"/>
          </a:solidFill>
          <a:ln w="8890">
            <a:solidFill>
              <a:srgbClr val="31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3312" y="3863340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315AA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Report / Slides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537960" y="1325880"/>
            <a:ext cx="48006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572768"/>
            <a:ext cx="20116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5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Linux 6.12.95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95160" y="2057400"/>
            <a:ext cx="3474720" cy="310896"/>
          </a:xfrm>
          <a:prstGeom prst="roundRect">
            <a:avLst>
              <a:gd name="adj" fmla="val 38235"/>
            </a:avLst>
          </a:prstGeom>
          <a:solidFill>
            <a:srgbClr val="EAF7EF"/>
          </a:solidFill>
          <a:ln w="8890">
            <a:solidFill>
              <a:srgbClr val="2F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68312" y="2107692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2F855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sched_ext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995160" y="2496312"/>
            <a:ext cx="3474720" cy="310896"/>
          </a:xfrm>
          <a:prstGeom prst="roundRect">
            <a:avLst>
              <a:gd name="adj" fmla="val 38235"/>
            </a:avLst>
          </a:prstGeom>
          <a:solidFill>
            <a:srgbClr val="EAF7EF"/>
          </a:solidFill>
          <a:ln w="8890">
            <a:solidFill>
              <a:srgbClr val="2F85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254660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2F855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scx_rustland_core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995160" y="2935224"/>
            <a:ext cx="3474720" cy="310896"/>
          </a:xfrm>
          <a:prstGeom prst="roundRect">
            <a:avLst>
              <a:gd name="adj" fmla="val 38235"/>
            </a:avLst>
          </a:prstGeom>
          <a:solidFill>
            <a:srgbClr val="EAF7EF"/>
          </a:solidFill>
          <a:ln w="8890">
            <a:solidFill>
              <a:srgbClr val="2F85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8312" y="2985516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2F855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SCHED_DEADLINE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995160" y="3374136"/>
            <a:ext cx="3474720" cy="310896"/>
          </a:xfrm>
          <a:prstGeom prst="roundRect">
            <a:avLst>
              <a:gd name="adj" fmla="val 38235"/>
            </a:avLst>
          </a:prstGeom>
          <a:solidFill>
            <a:srgbClr val="EAF7EF"/>
          </a:solidFill>
          <a:ln w="8890">
            <a:solidFill>
              <a:srgbClr val="2F85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68312" y="3424428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2F855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PSI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995160" y="3813048"/>
            <a:ext cx="3474720" cy="310896"/>
          </a:xfrm>
          <a:prstGeom prst="roundRect">
            <a:avLst>
              <a:gd name="adj" fmla="val 38235"/>
            </a:avLst>
          </a:prstGeom>
          <a:solidFill>
            <a:srgbClr val="EAF7EF"/>
          </a:solidFill>
          <a:ln w="8890">
            <a:solidFill>
              <a:srgbClr val="2F85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3863340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80" b="1" dirty="0">
                <a:solidFill>
                  <a:srgbClr val="2F855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Real Dispatch Metrics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715000" y="3291840"/>
            <a:ext cx="731520" cy="0"/>
          </a:xfrm>
          <a:prstGeom prst="line">
            <a:avLst/>
          </a:prstGeom>
          <a:noFill/>
          <a:ln w="16510">
            <a:solidFill>
              <a:srgbClr val="5F6B7A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14400" y="5623560"/>
            <a:ext cx="1042416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نتیجه نهایی باید روی Linux گرفته شود؛ اما بخش بزرگی از توسعه، شبیه‌سازی و تحلیل روی Mac انجام‌پذیر است.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برنامه اجرایی یک‌ترمی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تمرکز روی کاهش ریسک در دو هفته اول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DEAEA"/>
          </a:solidFill>
          <a:ln w="10160">
            <a:solidFill>
              <a:srgbClr val="B832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536192"/>
            <a:ext cx="41148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32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۱-۲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2376" y="1874520"/>
            <a:ext cx="166420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scx_simple / scx_rustland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Freeze Commit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62072" y="137160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DEAEA"/>
          </a:solidFill>
          <a:ln w="10160">
            <a:solidFill>
              <a:srgbClr val="B8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96512" y="1536192"/>
            <a:ext cx="41148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32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۳-۴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90088" y="1874520"/>
            <a:ext cx="166420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Workload Generator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Metadata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29784" y="137160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EAF1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536192"/>
            <a:ext cx="41148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۵-۶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874520"/>
            <a:ext cx="166420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 Deadline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Runtime + Laxity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97496" y="137160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EAF1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31936" y="1536192"/>
            <a:ext cx="41148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۷-۸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25512" y="1874520"/>
            <a:ext cx="166420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Dispatch Policy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65208" y="137160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EAF1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99648" y="1536192"/>
            <a:ext cx="41148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93224" y="1874520"/>
            <a:ext cx="166420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Admission + PSI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0632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EAF1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3227832"/>
            <a:ext cx="41148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5A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۱۰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" y="3566160"/>
            <a:ext cx="166420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Metrics + Configs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62072" y="30632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6512" y="3227832"/>
            <a:ext cx="41148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۱۱-۱۲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90088" y="3566160"/>
            <a:ext cx="166420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Baselines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 Runs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29784" y="30632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3227832"/>
            <a:ext cx="41148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۱۳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3566160"/>
            <a:ext cx="166420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97496" y="30632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31936" y="3227832"/>
            <a:ext cx="41148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۱۴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25512" y="3566160"/>
            <a:ext cx="1664208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400" y="5440680"/>
            <a:ext cx="1042416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B83232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اگر Rustland تا پایان هفته دوم پایدار اجرا نشود، توسعه الگوریتم متوقف و ابتدا مشکل محیط حل می‌شود.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ریسک‌ها و کنترل آن‌ها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پروژه در سطح سیستم‌عامل است؛ پس Safety و Reproducibility بخشی از خروجی است.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143000"/>
            <a:ext cx="103784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261872"/>
            <a:ext cx="2926080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B83232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ناسازگاری کرنل/scx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43000" y="1261872"/>
            <a:ext cx="6263640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قفل Commit و ثبت ENVIRONMENT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1892808"/>
            <a:ext cx="10378440" cy="502920"/>
          </a:xfrm>
          <a:prstGeom prst="roundRect">
            <a:avLst/>
          </a:prstGeom>
          <a:solidFill>
            <a:srgbClr val="F1F4F8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011680"/>
            <a:ext cx="2926080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B83232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سربار Rustland زیاد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2011680"/>
            <a:ext cx="6263640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گزارش به‌عنوان نتیجه و کار آینده BPF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2642616"/>
            <a:ext cx="103784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761488"/>
            <a:ext cx="2926080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B83232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خطای Runtime Estimation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43000" y="2761488"/>
            <a:ext cx="6263640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کالیبراسیون + EWMA و تحلیل حساسیت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3392424"/>
            <a:ext cx="10378440" cy="502920"/>
          </a:xfrm>
          <a:prstGeom prst="roundRect">
            <a:avLst/>
          </a:prstGeom>
          <a:solidFill>
            <a:srgbClr val="F1F4F8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3511296"/>
            <a:ext cx="2926080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B83232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نتایج غیرقابل بازتولید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3000" y="3511296"/>
            <a:ext cx="6263640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Seed ثابت، Config-driven، Lock نسخه‌ها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4142232"/>
            <a:ext cx="103784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4261104"/>
            <a:ext cx="2926080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B83232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خطر سیستم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43000" y="4261104"/>
            <a:ext cx="6263640" cy="16459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VM/SSH دوم/emergency_stop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5394960"/>
            <a:ext cx="10424160" cy="457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48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اصل دفاع: اگر روش پیشنهادی در بعضی سناریوها بهتر نباشد، باز هم نتیجه معتبر است؛ هدف تعیین محدوده مناسب هر سیاست است.</a:t>
            </a:r>
            <a:endParaRPr lang="en-US" sz="14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60704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جمع‌بندی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05840" y="1920240"/>
            <a:ext cx="10241280" cy="7772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این پروژه یک Scheduler سطح Node برای AI/Fusion است که Deadline صریح کاربرد را وارد تصمیم زمان‌بندی Linux می‌کند.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3246120"/>
            <a:ext cx="4800600" cy="658368"/>
          </a:xfrm>
          <a:prstGeom prst="roundRect">
            <a:avLst>
              <a:gd name="adj" fmla="val 11111"/>
            </a:avLst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3383280"/>
            <a:ext cx="173736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قابل اجرا در یک ترم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43000" y="3392424"/>
            <a:ext cx="233172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دامنه CPU و یک Node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26480" y="3246120"/>
            <a:ext cx="4800600" cy="658368"/>
          </a:xfrm>
          <a:prstGeom prst="roundRect">
            <a:avLst>
              <a:gd name="adj" fmla="val 11111"/>
            </a:avLst>
          </a:prstGeom>
          <a:solidFill>
            <a:srgbClr val="EAF1FF"/>
          </a:solidFill>
          <a:ln w="10160">
            <a:solidFill>
              <a:srgbClr val="315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3383280"/>
            <a:ext cx="173736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315AA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قابل دفاع علمی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55080" y="3392424"/>
            <a:ext cx="233172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Baseline و Ablation روشن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4206240"/>
            <a:ext cx="4800600" cy="658368"/>
          </a:xfrm>
          <a:prstGeom prst="roundRect">
            <a:avLst>
              <a:gd name="adj" fmla="val 11111"/>
            </a:avLst>
          </a:prstGeom>
          <a:solidFill>
            <a:srgbClr val="FFF5DA"/>
          </a:solidFill>
          <a:ln w="10160">
            <a:solidFill>
              <a:srgbClr val="B77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4343400"/>
            <a:ext cx="173736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قابل بازتولید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4352544"/>
            <a:ext cx="233172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Config، Lock و Result Schema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4206240"/>
            <a:ext cx="4800600" cy="658368"/>
          </a:xfrm>
          <a:prstGeom prst="roundRect">
            <a:avLst>
              <a:gd name="adj" fmla="val 11111"/>
            </a:avLst>
          </a:prstGeom>
          <a:solidFill>
            <a:srgbClr val="F1ECFF"/>
          </a:solidFill>
          <a:ln w="10160">
            <a:solidFill>
              <a:srgbClr val="6B4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343400"/>
            <a:ext cx="173736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6B46C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قابل توسعه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4352544"/>
            <a:ext cx="2331720" cy="182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مسیر آینده به BPF / Cloud / GPU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80160" y="5715000"/>
            <a:ext cx="9692640" cy="3657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315AA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پرسش پایانی: در کدام workloadها Application Deadline واقعاً از Virtual Deadline بهتر عمل می‌کند؟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77084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Fusion Scheduler</dc:title>
  <dc:subject>Rust-based application-aware soft-deadline scheduler with Linux sched_ext</dc:subject>
  <dc:creator>Amir project</dc:creator>
  <cp:lastModifiedBy>Amir project</cp:lastModifiedBy>
  <cp:revision>1</cp:revision>
  <dcterms:created xsi:type="dcterms:W3CDTF">2026-08-04T19:44:47Z</dcterms:created>
  <dcterms:modified xsi:type="dcterms:W3CDTF">2026-08-04T19:44:47Z</dcterms:modified>
</cp:coreProperties>
</file>